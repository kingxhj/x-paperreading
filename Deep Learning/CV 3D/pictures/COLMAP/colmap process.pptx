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6E6"/>
    <a:srgbClr val="D1DCF3"/>
    <a:srgbClr val="B0B0FE"/>
    <a:srgbClr val="7899DA"/>
    <a:srgbClr val="90ABE0"/>
    <a:srgbClr val="4471CC"/>
    <a:srgbClr val="819FDB"/>
    <a:srgbClr val="AEC1E8"/>
    <a:srgbClr val="C7D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91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6C3D55-3673-57B9-1B7B-FE76450E69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65435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325" imgH="323" progId="TCLayout.ActiveDocument.1">
                  <p:embed/>
                </p:oleObj>
              </mc:Choice>
              <mc:Fallback>
                <p:oleObj name="think-cell 幻灯片" r:id="rId14" imgW="325" imgH="3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0CEEA-81AE-147A-3550-66706B0CD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DE3A14-349B-7FF0-803C-BDD04EBD85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68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B5E6964E-1A64-C823-CF05-4CB2096ED8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8432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5" imgH="323" progId="TCLayout.ActiveDocument.1">
                  <p:embed/>
                </p:oleObj>
              </mc:Choice>
              <mc:Fallback>
                <p:oleObj name="think-cell 幻灯片" r:id="rId3" imgW="325" imgH="3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2F9896F9-C279-2BBE-B036-D7E172CD6158}"/>
              </a:ext>
            </a:extLst>
          </p:cNvPr>
          <p:cNvGrpSpPr/>
          <p:nvPr/>
        </p:nvGrpSpPr>
        <p:grpSpPr>
          <a:xfrm>
            <a:off x="2870200" y="612972"/>
            <a:ext cx="6673850" cy="5438578"/>
            <a:chOff x="2870200" y="612972"/>
            <a:chExt cx="6673850" cy="5438578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71F113E-46E6-81A2-BB6B-7D25A5683982}"/>
                </a:ext>
              </a:extLst>
            </p:cNvPr>
            <p:cNvSpPr/>
            <p:nvPr/>
          </p:nvSpPr>
          <p:spPr>
            <a:xfrm>
              <a:off x="6457950" y="612972"/>
              <a:ext cx="3086100" cy="20584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FEC1FA1-19C9-C613-0F32-D2BC3697286D}"/>
                </a:ext>
              </a:extLst>
            </p:cNvPr>
            <p:cNvSpPr/>
            <p:nvPr/>
          </p:nvSpPr>
          <p:spPr>
            <a:xfrm>
              <a:off x="6457950" y="2749550"/>
              <a:ext cx="3086100" cy="3302000"/>
            </a:xfrm>
            <a:prstGeom prst="rect">
              <a:avLst/>
            </a:prstGeom>
            <a:solidFill>
              <a:srgbClr val="ECF6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2F16771-276A-59CF-E25F-1127D56D690E}"/>
                </a:ext>
              </a:extLst>
            </p:cNvPr>
            <p:cNvSpPr/>
            <p:nvPr/>
          </p:nvSpPr>
          <p:spPr>
            <a:xfrm>
              <a:off x="2870200" y="612972"/>
              <a:ext cx="3086100" cy="54385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5D3A9A3-B6DF-2DA2-CA40-E8139CE3A406}"/>
                </a:ext>
              </a:extLst>
            </p:cNvPr>
            <p:cNvSpPr/>
            <p:nvPr/>
          </p:nvSpPr>
          <p:spPr>
            <a:xfrm>
              <a:off x="2971800" y="920750"/>
              <a:ext cx="2882900" cy="755650"/>
            </a:xfrm>
            <a:prstGeom prst="rect">
              <a:avLst/>
            </a:prstGeom>
            <a:solidFill>
              <a:srgbClr val="D1DC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特征提取与匹配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获得相邻视角匹配的像素点对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SIFT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D72036C-62F8-081B-2C29-D4BC72B67C4C}"/>
                </a:ext>
              </a:extLst>
            </p:cNvPr>
            <p:cNvSpPr/>
            <p:nvPr/>
          </p:nvSpPr>
          <p:spPr>
            <a:xfrm>
              <a:off x="2971800" y="1993900"/>
              <a:ext cx="2882900" cy="755650"/>
            </a:xfrm>
            <a:prstGeom prst="rect">
              <a:avLst/>
            </a:prstGeom>
            <a:solidFill>
              <a:srgbClr val="C7D4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几何验证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利用对极约束求解相机内、外参数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RANSAC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38DC8CA-9C2C-3BC9-45D2-5FFB4BB3173D}"/>
                </a:ext>
              </a:extLst>
            </p:cNvPr>
            <p:cNvSpPr/>
            <p:nvPr/>
          </p:nvSpPr>
          <p:spPr>
            <a:xfrm>
              <a:off x="2971800" y="3067050"/>
              <a:ext cx="2882900" cy="755650"/>
            </a:xfrm>
            <a:prstGeom prst="rect">
              <a:avLst/>
            </a:prstGeom>
            <a:solidFill>
              <a:srgbClr val="AEC1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稀疏重建初始化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选取具有足够多几何验证内点的图像对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zh-CN" altLang="en-US" sz="1200" dirty="0">
                  <a:solidFill>
                    <a:schemeClr val="tx1"/>
                  </a:solidFill>
                </a:rPr>
                <a:t>三角测量法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CB9FC7D-3A72-7D64-0BC2-143688366F28}"/>
                </a:ext>
              </a:extLst>
            </p:cNvPr>
            <p:cNvSpPr/>
            <p:nvPr/>
          </p:nvSpPr>
          <p:spPr>
            <a:xfrm>
              <a:off x="2971800" y="4140200"/>
              <a:ext cx="2882900" cy="755650"/>
            </a:xfrm>
            <a:prstGeom prst="rect">
              <a:avLst/>
            </a:prstGeom>
            <a:solidFill>
              <a:srgbClr val="90AB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稀疏重建扩展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增加其他视角的图像完善三维点云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PnP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7AE6501-BF88-C990-1785-CB35228193D1}"/>
                </a:ext>
              </a:extLst>
            </p:cNvPr>
            <p:cNvSpPr/>
            <p:nvPr/>
          </p:nvSpPr>
          <p:spPr>
            <a:xfrm>
              <a:off x="2971800" y="5213350"/>
              <a:ext cx="2882900" cy="755650"/>
            </a:xfrm>
            <a:prstGeom prst="rect">
              <a:avLst/>
            </a:prstGeom>
            <a:solidFill>
              <a:srgbClr val="789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几何精化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优化各视角相机的内、外参数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BA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算法、</a:t>
              </a:r>
              <a:r>
                <a:rPr lang="en-US" altLang="zh-CN" sz="1200" dirty="0">
                  <a:solidFill>
                    <a:schemeClr val="tx1"/>
                  </a:solidFill>
                </a:rPr>
                <a:t>LM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F43A55E-FB4B-FDFD-9E64-FD7614CE0E12}"/>
                </a:ext>
              </a:extLst>
            </p:cNvPr>
            <p:cNvSpPr/>
            <p:nvPr/>
          </p:nvSpPr>
          <p:spPr>
            <a:xfrm>
              <a:off x="6559550" y="5213350"/>
              <a:ext cx="2882900" cy="7556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图像去畸变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利用</a:t>
              </a:r>
              <a:r>
                <a:rPr lang="en-US" altLang="zh-CN" sz="1200" dirty="0" err="1">
                  <a:solidFill>
                    <a:schemeClr val="tx1"/>
                  </a:solidFill>
                </a:rPr>
                <a:t>SfM</a:t>
              </a:r>
              <a:r>
                <a:rPr lang="zh-CN" altLang="en-US" sz="1200" dirty="0">
                  <a:solidFill>
                    <a:schemeClr val="tx1"/>
                  </a:solidFill>
                </a:rPr>
                <a:t>输出的畸变系数校正原始图像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zh-CN" altLang="en-US" sz="1200" dirty="0">
                  <a:solidFill>
                    <a:schemeClr val="tx1"/>
                  </a:solidFill>
                </a:rPr>
                <a:t>几何校正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7C3A9D7-84F3-80C9-BD97-420DCAA0F15C}"/>
                </a:ext>
              </a:extLst>
            </p:cNvPr>
            <p:cNvSpPr/>
            <p:nvPr/>
          </p:nvSpPr>
          <p:spPr>
            <a:xfrm>
              <a:off x="6559550" y="4140200"/>
              <a:ext cx="2882900" cy="75565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立体匹配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估计每一幅图像对应的深度图和法线图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PMS</a:t>
              </a:r>
              <a:r>
                <a:rPr lang="zh-CN" altLang="en-US" sz="1200" dirty="0">
                  <a:solidFill>
                    <a:schemeClr val="tx1"/>
                  </a:solidFill>
                </a:rPr>
                <a:t>算法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37D55AF-B724-2938-62EB-5A154156BE41}"/>
                </a:ext>
              </a:extLst>
            </p:cNvPr>
            <p:cNvSpPr/>
            <p:nvPr/>
          </p:nvSpPr>
          <p:spPr>
            <a:xfrm>
              <a:off x="6559550" y="3067050"/>
              <a:ext cx="2882900" cy="7556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数据融合</a:t>
              </a:r>
              <a:endParaRPr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融合所有深度图和法线图生成稠密点云</a:t>
              </a:r>
              <a:br>
                <a:rPr lang="en-US" altLang="zh-CN" sz="1200" dirty="0">
                  <a:solidFill>
                    <a:schemeClr val="tx1"/>
                  </a:solidFill>
                </a:rPr>
              </a:br>
              <a:r>
                <a:rPr lang="en-US" altLang="zh-CN" sz="1200" dirty="0">
                  <a:solidFill>
                    <a:schemeClr val="tx1"/>
                  </a:solidFill>
                </a:rPr>
                <a:t>Stereo Fusion</a:t>
              </a:r>
              <a:r>
                <a:rPr lang="zh-CN" altLang="en-US" sz="1200" dirty="0">
                  <a:solidFill>
                    <a:schemeClr val="tx1"/>
                  </a:solidFill>
                </a:rPr>
                <a:t>方法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F6D8568-B582-204C-0831-E980F9ED9AA9}"/>
                </a:ext>
              </a:extLst>
            </p:cNvPr>
            <p:cNvSpPr txBox="1"/>
            <p:nvPr/>
          </p:nvSpPr>
          <p:spPr>
            <a:xfrm>
              <a:off x="2870200" y="612973"/>
              <a:ext cx="1212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err="1"/>
                <a:t>SfM</a:t>
              </a:r>
              <a:r>
                <a:rPr lang="zh-CN" altLang="en-US" sz="1400" b="1" dirty="0"/>
                <a:t>稀疏重建</a:t>
              </a:r>
              <a:endParaRPr lang="en-US" sz="1400" b="1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D434A94-C6E8-E409-42AA-B23C757B7DB8}"/>
                </a:ext>
              </a:extLst>
            </p:cNvPr>
            <p:cNvSpPr txBox="1"/>
            <p:nvPr/>
          </p:nvSpPr>
          <p:spPr>
            <a:xfrm>
              <a:off x="6457950" y="2759273"/>
              <a:ext cx="1295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MVS</a:t>
              </a:r>
              <a:r>
                <a:rPr lang="zh-CN" altLang="en-US" sz="1400" b="1" dirty="0"/>
                <a:t>稠密重建</a:t>
              </a:r>
              <a:endParaRPr lang="en-US" sz="1400" b="1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0B3E8D3-57FB-3B0F-9B3D-1EE384F7D098}"/>
                </a:ext>
              </a:extLst>
            </p:cNvPr>
            <p:cNvCxnSpPr>
              <a:stCxn id="2" idx="2"/>
              <a:endCxn id="3" idx="0"/>
            </p:cNvCxnSpPr>
            <p:nvPr/>
          </p:nvCxnSpPr>
          <p:spPr>
            <a:xfrm>
              <a:off x="4413250" y="167640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176E477-7095-E7BB-C369-20CB6D7940A9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>
              <a:off x="4413250" y="274955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9FEC3D6-4849-E340-5033-624875A2E735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4413250" y="382270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FCF11D82-2933-68CF-7C90-301C0E9A0FF6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4413250" y="489585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9ABB3CE-5BD5-5683-FA42-AFB22CB0C357}"/>
                </a:ext>
              </a:extLst>
            </p:cNvPr>
            <p:cNvCxnSpPr>
              <a:stCxn id="10" idx="0"/>
              <a:endCxn id="11" idx="2"/>
            </p:cNvCxnSpPr>
            <p:nvPr/>
          </p:nvCxnSpPr>
          <p:spPr>
            <a:xfrm flipV="1">
              <a:off x="8001000" y="489585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E981356-608D-7F91-A16C-1B71ACF7BB69}"/>
                </a:ext>
              </a:extLst>
            </p:cNvPr>
            <p:cNvCxnSpPr/>
            <p:nvPr/>
          </p:nvCxnSpPr>
          <p:spPr>
            <a:xfrm flipV="1">
              <a:off x="7994650" y="3822700"/>
              <a:ext cx="0" cy="317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3D37A51-FE8F-C4BB-83D4-AC8B22663E28}"/>
                </a:ext>
              </a:extLst>
            </p:cNvPr>
            <p:cNvSpPr/>
            <p:nvPr/>
          </p:nvSpPr>
          <p:spPr>
            <a:xfrm>
              <a:off x="6559550" y="920749"/>
              <a:ext cx="2882900" cy="7556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输入图像集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6F6F9F8-A8E6-013A-B881-A5035A2462CE}"/>
                </a:ext>
              </a:extLst>
            </p:cNvPr>
            <p:cNvSpPr/>
            <p:nvPr/>
          </p:nvSpPr>
          <p:spPr>
            <a:xfrm>
              <a:off x="6559550" y="1833268"/>
              <a:ext cx="2882900" cy="75565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输出点云及相机内、外参数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B2C6FBF-19A3-D7D9-BF5F-A03544A7E5E1}"/>
                </a:ext>
              </a:extLst>
            </p:cNvPr>
            <p:cNvSpPr txBox="1"/>
            <p:nvPr/>
          </p:nvSpPr>
          <p:spPr>
            <a:xfrm>
              <a:off x="6457950" y="612972"/>
              <a:ext cx="922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/>
                <a:t>数据空间</a:t>
              </a:r>
              <a:endParaRPr lang="en-US" sz="1400" b="1" dirty="0"/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996689A-2D46-7002-AE95-BC3DF38CC232}"/>
                </a:ext>
              </a:extLst>
            </p:cNvPr>
            <p:cNvCxnSpPr>
              <a:cxnSpLocks/>
              <a:stCxn id="30" idx="1"/>
              <a:endCxn id="2" idx="3"/>
            </p:cNvCxnSpPr>
            <p:nvPr/>
          </p:nvCxnSpPr>
          <p:spPr>
            <a:xfrm flipH="1">
              <a:off x="5854700" y="1298574"/>
              <a:ext cx="70485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B1A3460-CAC7-58A3-097B-AB9008C18BA5}"/>
                </a:ext>
              </a:extLst>
            </p:cNvPr>
            <p:cNvCxnSpPr>
              <a:stCxn id="12" idx="0"/>
              <a:endCxn id="31" idx="2"/>
            </p:cNvCxnSpPr>
            <p:nvPr/>
          </p:nvCxnSpPr>
          <p:spPr>
            <a:xfrm flipV="1">
              <a:off x="8001000" y="2588918"/>
              <a:ext cx="0" cy="478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7269EB21-2F1D-231F-3F76-E9961D53B52B}"/>
                </a:ext>
              </a:extLst>
            </p:cNvPr>
            <p:cNvCxnSpPr>
              <a:stCxn id="9" idx="2"/>
              <a:endCxn id="10" idx="2"/>
            </p:cNvCxnSpPr>
            <p:nvPr/>
          </p:nvCxnSpPr>
          <p:spPr>
            <a:xfrm rot="16200000" flipH="1">
              <a:off x="6207125" y="4175125"/>
              <a:ext cx="12700" cy="3587750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99643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146</Words>
  <Application>Microsoft Office PowerPoint</Application>
  <PresentationFormat>宽屏</PresentationFormat>
  <Paragraphs>21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WPS</vt:lpstr>
      <vt:lpstr>think-cell 幻灯片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lizhong zhang</dc:creator>
  <cp:lastModifiedBy>lizhong zhang</cp:lastModifiedBy>
  <cp:revision>42</cp:revision>
  <dcterms:created xsi:type="dcterms:W3CDTF">2023-08-09T12:44:00Z</dcterms:created>
  <dcterms:modified xsi:type="dcterms:W3CDTF">2025-11-05T15:04:40Z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